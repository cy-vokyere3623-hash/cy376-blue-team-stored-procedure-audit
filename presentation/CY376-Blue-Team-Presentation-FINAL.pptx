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8C9D6"/>
                </a:solidFill>
                <a:latin typeface="Calibri"/>
              </a:rPr>
              <a:t>CY376: Network Monitoring, Security and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Auditing Stored Procedures and Database Objects
for Security Weaknesses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8F0F0"/>
                </a:solidFill>
                <a:latin typeface="Calibri"/>
              </a:rPr>
              <a:t>Blue Team End-of-Semester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235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Veronica Okyere
Index: FCM.41.018.206.23
GitHub: github.com/cy-vokyere3623-hash/CY376-Blue-Team-Stored-Procedure-Audit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1. Problem and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Why this Blue Team project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09728" cy="475488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44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Stored procedures are common in enterprise apps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They are not automatically safe from abuse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Risks: SQL injection, privilege escalation, OS commands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Weak permissions (public EXECUTE) widen the attack surface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Missing audit leaves little forensic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109728" cy="475488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A44"/>
                </a:solidFill>
                <a:latin typeface="Calibri"/>
              </a:rPr>
              <a:t>Project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2024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Inventory database modules and objects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Detect dangerous code and permission patterns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Document findings with severity and evidence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Remediate weaknesses in a controlled lab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Re-verify with the same audit scripts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2. Laboratory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Isolated environment — no production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2697480" cy="5029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4475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Database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0312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SQL Server 2022 Express
Instance: localhost\SQLEXPRESS
Auth: Windows (NOVA\Administrator)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6974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697480" cy="5029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44475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Client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10312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SQL Server Management Studio 21
Used for scripts, results,
and screenshot evidence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5029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4475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Sample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AdventureWorks2022
Realistic schema for lab
procedures and audits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371600"/>
            <a:ext cx="269748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371600"/>
            <a:ext cx="2697480" cy="5029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444752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Safety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103120"/>
            <a:ext cx="2423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Lab-only vulnerable objects
Intentionally created, then
remediated and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3. Lab Topology and Connection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How the auditor reached the database</a:t>
            </a:r>
          </a:p>
        </p:txBody>
      </p:sp>
      <p:pic>
        <p:nvPicPr>
          <p:cNvPr id="6" name="Picture 5" descr="10-lab-topology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852160" cy="3901440"/>
          </a:xfrm>
          <a:prstGeom prst="rect">
            <a:avLst/>
          </a:prstGeom>
        </p:spPr>
      </p:pic>
      <p:pic>
        <p:nvPicPr>
          <p:cNvPr id="7" name="Picture 6" descr="01-ssms-connect-localhost-SQLEXP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34440"/>
            <a:ext cx="5303520" cy="29832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9893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Figure: Lab topology (Auditor → SSMS → SQL Express → AdventureWorks2022)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989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Figure: SSMS connection to localhost\SQLEXPRESS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4. Methodology — Blue Team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Repeatable audit cycle used in the lab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8288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1600200"/>
            <a:ext cx="640080" cy="640080"/>
          </a:xfrm>
          <a:prstGeom prst="ellipse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Calibri"/>
              </a:rP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Calibri"/>
              </a:rPr>
              <a:t>Create lab + intentionally
weak procedures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417320"/>
            <a:ext cx="18288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26079" y="1600200"/>
            <a:ext cx="640080" cy="640080"/>
          </a:xfrm>
          <a:prstGeom prst="ellipse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Calibri"/>
              </a:rPr>
              <a:t>Inventory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9260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Calibri"/>
              </a:rPr>
              <a:t>01-inventory.sql
List modules &amp; EXECUTE 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417320"/>
            <a:ext cx="18288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Calibri"/>
              </a:rPr>
              <a:t>Detect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9260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Calibri"/>
              </a:rPr>
              <a:t>02 / 03 / 04 scripts
Code, perms, config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1417320"/>
            <a:ext cx="18288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0" y="1600200"/>
            <a:ext cx="640080" cy="640080"/>
          </a:xfrm>
          <a:prstGeom prst="ellipse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79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Calibri"/>
              </a:rPr>
              <a:t>Document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79" y="29260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Calibri"/>
              </a:rPr>
              <a:t>Findings F-001–F-006
Severity +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18288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23960" y="1600200"/>
            <a:ext cx="640080" cy="640080"/>
          </a:xfrm>
          <a:prstGeom prst="ellipse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Calibri"/>
              </a:rPr>
              <a:t>Remediate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260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Calibri"/>
              </a:rPr>
              <a:t>remediate-findings.sql
Fix and harden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95560" y="1417320"/>
            <a:ext cx="18288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789920" y="1600200"/>
            <a:ext cx="640080" cy="640080"/>
          </a:xfrm>
          <a:prstGeom prst="ellipse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23774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F2A44"/>
                </a:solidFill>
                <a:latin typeface="Calibri"/>
              </a:rP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2926080"/>
            <a:ext cx="1645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E1E1E"/>
                </a:solidFill>
                <a:latin typeface="Calibri"/>
              </a:rPr>
              <a:t>Re-run 02–05
Prove risks closed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5. Findings Overview — Six Issues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Summary of audit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4754880" cy="34747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4480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Status: all 6 findings later remediated and re-verified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645920"/>
          <a:ext cx="1133856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371600"/>
                <a:gridCol w="4754880"/>
                <a:gridCol w="2743200"/>
                <a:gridCol w="1280160"/>
              </a:tblGrid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Finding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Object / Area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0F2A44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2A44"/>
                          </a:solidFill>
                          <a:latin typeface="Calibri"/>
                        </a:rPr>
                        <a:t>F-001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45C26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SQL injection via dynamic SQL concatenation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usp_LabSearchProducts_Unsafe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6F6F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2A44"/>
                          </a:solidFill>
                          <a:latin typeface="Calibri"/>
                        </a:rPr>
                        <a:t>F-002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05C1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Privilege escalation with EXECUTE AS OWNER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usp_LabGetEmployee_Elevate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6F6F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2A44"/>
                          </a:solidFill>
                          <a:latin typeface="Calibri"/>
                        </a:rPr>
                        <a:t>F-003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45C26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Dangerous xp_cmdshell wrapper procedure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usp_LabRunCommand_Dangerous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6F6F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2A44"/>
                          </a:solidFill>
                          <a:latin typeface="Calibri"/>
                        </a:rPr>
                        <a:t>F-004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05C1B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EXECUTE granted to public on lab procedures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usp_Lab* / public role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6F6F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2A44"/>
                          </a:solidFill>
                          <a:latin typeface="Calibri"/>
                        </a:rPr>
                        <a:t>F-005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6F6F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SQL Server Audit not configured initially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Server / database audit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6F6F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2A44"/>
                          </a:solidFill>
                          <a:latin typeface="Calibri"/>
                        </a:rPr>
                        <a:t>F-006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4A5560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remote access configuration enabled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E1E1E"/>
                          </a:solidFill>
                          <a:latin typeface="Calibri"/>
                        </a:rPr>
                        <a:t>sys.configurations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6F6F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6. Critical Findings — Evidence (Before Remediation)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F-001 SQL injection  •  F-003 xp_cmdshell wrapper</a:t>
            </a:r>
          </a:p>
        </p:txBody>
      </p:sp>
      <p:pic>
        <p:nvPicPr>
          <p:cNvPr id="6" name="Picture 5" descr="11-code-patterns-before-remed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498079" cy="42176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092440" y="1188720"/>
            <a:ext cx="3657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1188720"/>
            <a:ext cx="3657600" cy="4572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2618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What this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3291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•  02-code-patterns.sql flagged unsafe procs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•  usp_LabSearchProducts_Unsafe uses EXEC(@sql)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•  usp_LabRunCommand_Dangerous calls xp_cmdshell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•  Also found EXECUTE AS OWNER elevation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1E1E1E"/>
                </a:solidFill>
                <a:latin typeface="Calibri"/>
              </a:rPr>
              <a:t>•  Matches OWASP + CIS risk guidance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7. High Findings — Elevation and Public EXECUTE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F-002 EXECUTE AS OWNER  •  F-004 public grants</a:t>
            </a:r>
          </a:p>
        </p:txBody>
      </p:sp>
      <p:pic>
        <p:nvPicPr>
          <p:cNvPr id="6" name="Picture 5" descr="12-permissions-public-execute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943600" cy="3343275"/>
          </a:xfrm>
          <a:prstGeom prst="rect">
            <a:avLst/>
          </a:prstGeom>
        </p:spPr>
      </p:pic>
      <p:pic>
        <p:nvPicPr>
          <p:cNvPr id="7" name="Picture 6" descr="03-inventory-execute-as-owner-lab-pr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43000"/>
            <a:ext cx="5394960" cy="30346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9436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5560"/>
                </a:solidFill>
                <a:latin typeface="Calibri"/>
              </a:rPr>
              <a:t>Left: public has EXECUTE on all three lab procedures   |   Right: inventory shows EXECUTE AS OWNER on elevate procedure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8. Audit Gap, Surface Area, and Positive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F-005 missing audit  •  F-006 remote access  •  good baselines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80160"/>
            <a:ext cx="557784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4"/>
                </a:solidFill>
                <a:latin typeface="Calibri"/>
              </a:rPr>
              <a:t>Issues found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F-005: No SQL Server Audit at first check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Without audit, abuse may leave weak logs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F-006: remote access was enabled (value_in_use=1)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Lower severity, still CIS surface-area 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6F6F"/>
                </a:solidFill>
                <a:latin typeface="Calibri"/>
              </a:rPr>
              <a:t>Already good (before/after)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xp_cmdshell = 0 (disabled)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Ole Automation Procedures = 0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clr enabled = 0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Ad Hoc Distributed Queries = 0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Calibri"/>
              </a:rPr>
              <a:t>•  sa login disabled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9. Remediation and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Fix → re-run scripts → prove closure</a:t>
            </a:r>
          </a:p>
        </p:txBody>
      </p:sp>
      <p:pic>
        <p:nvPicPr>
          <p:cNvPr id="6" name="Picture 5" descr="05-code-patterns-after-0-r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5760720" cy="3240405"/>
          </a:xfrm>
          <a:prstGeom prst="rect">
            <a:avLst/>
          </a:prstGeom>
        </p:spPr>
      </p:pic>
      <p:pic>
        <p:nvPicPr>
          <p:cNvPr id="7" name="Picture 6" descr="08-sql-audit-BlueTeamLabAudit-star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43000"/>
            <a:ext cx="5486400" cy="3086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5074920"/>
            <a:ext cx="115214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516636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1E1E1E"/>
                </a:solidFill>
                <a:latin typeface="Calibri"/>
              </a:rPr>
              <a:t>•  Dropped unsafe/elevated/dangerous procs; created usp_LabSearchProducts_Safe and usp_LabGetEmployee_Safe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E1E1E"/>
                </a:solidFill>
                <a:latin typeface="Calibri"/>
              </a:rPr>
              <a:t>•  Revoked public EXECUTE; started BlueTeamLabAudit + server/DB specs; set remote access = 0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E1E1E"/>
                </a:solidFill>
                <a:latin typeface="Calibri"/>
              </a:rPr>
              <a:t>•  Verification: code-pattern hunt returned 0 rows; audit status = STARTED; config hardened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10. Recommendations for Similar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0DCE6"/>
                </a:solidFill>
                <a:latin typeface="Calibri"/>
              </a:rPr>
              <a:t>Practical blue-team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09728" cy="14173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Calibri"/>
              </a:rPr>
              <a:t>Parameterized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Never concatenate user input into EXEC; use static SQL or sp_executesql with parameters.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109728" cy="14173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Calibri"/>
              </a:rPr>
              <a:t>Least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28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Avoid EXECUTE AS OWNER unless required; never grant sensitive EXECUTE to public.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3464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834640"/>
            <a:ext cx="109728" cy="14173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Calibri"/>
              </a:rPr>
              <a:t>Surface Area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290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Keep xp_cmdshell, OLE Automation, and related features disabled by default.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83464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834640"/>
            <a:ext cx="109728" cy="14173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Calibri"/>
              </a:rPr>
              <a:t>Detective Controls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4290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Enable SQL Server Audit for audit changes, server operations, and sensitive procedure use.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43484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434840"/>
            <a:ext cx="109728" cy="14173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617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Calibri"/>
              </a:rPr>
              <a:t>Repeatable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29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Re-run inventory and pattern scripts after schema deployments as a regression control.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434840"/>
            <a:ext cx="5623560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434840"/>
            <a:ext cx="109728" cy="141732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617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4"/>
                </a:solidFill>
                <a:latin typeface="Calibri"/>
              </a:rPr>
              <a:t>Version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29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1E1E"/>
                </a:solidFill>
                <a:latin typeface="Calibri"/>
              </a:rPr>
              <a:t>Keep audit scripts, findings, and evidence in Git for review and continuity.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5560"/>
                </a:solidFill>
                <a:latin typeface="Calibri"/>
              </a:rPr>
              <a:t>CY376  |  Veronica Okyere  |  FCM.41.018.206.23  |  Blue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A5560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•  Completed a full Blue Team audit lifecycle on SQL Server lab objects
•  Identified 6 findings; all remediated and re-verified with evidence
•  Deliverables: report, scripts, screenshots, GitHub repository, slides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846320"/>
            <a:ext cx="10515600" cy="1280160"/>
          </a:xfrm>
          <a:prstGeom prst="rect">
            <a:avLst/>
          </a:prstGeom>
          <a:solidFill>
            <a:srgbClr val="1F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Thank you — questions welcome
Repo: github.com/cy-vokyere3623-hash/CY376-Blue-Team-Stored-Procedure-Audit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