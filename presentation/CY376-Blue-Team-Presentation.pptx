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" cy="914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1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3115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D1DB-1E06-9DD4-AE21-36BCBDA9E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149648"/>
            <a:ext cx="685800" cy="318347"/>
          </a:xfrm>
        </p:spPr>
        <p:txBody>
          <a:bodyPr anchor="b"/>
          <a:lstStyle>
            <a:lvl1pPr algn="ctr">
              <a:defRPr sz="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1C337-C728-D300-D390-0ECEEFDF1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" y="480272"/>
            <a:ext cx="685800" cy="220768"/>
          </a:xfrm>
        </p:spPr>
        <p:txBody>
          <a:bodyPr/>
          <a:lstStyle>
            <a:lvl1pPr marL="0" indent="0" algn="ctr">
              <a:buNone/>
              <a:defRPr sz="100"/>
            </a:lvl1pPr>
            <a:lvl2pPr marL="4571" indent="0" algn="ctr">
              <a:buNone/>
              <a:defRPr sz="100"/>
            </a:lvl2pPr>
            <a:lvl3pPr marL="9142" indent="0" algn="ctr">
              <a:buNone/>
              <a:defRPr sz="100"/>
            </a:lvl3pPr>
            <a:lvl4pPr marL="13713" indent="0" algn="ctr">
              <a:buNone/>
              <a:defRPr sz="100"/>
            </a:lvl4pPr>
            <a:lvl5pPr marL="18283" indent="0" algn="ctr">
              <a:buNone/>
              <a:defRPr sz="100"/>
            </a:lvl5pPr>
            <a:lvl6pPr marL="22854" indent="0" algn="ctr">
              <a:buNone/>
              <a:defRPr sz="100"/>
            </a:lvl6pPr>
            <a:lvl7pPr marL="27425" indent="0" algn="ctr">
              <a:buNone/>
              <a:defRPr sz="100"/>
            </a:lvl7pPr>
            <a:lvl8pPr marL="31996" indent="0" algn="ctr">
              <a:buNone/>
              <a:defRPr sz="100"/>
            </a:lvl8pPr>
            <a:lvl9pPr marL="36567" indent="0" algn="ctr">
              <a:buNone/>
              <a:defRPr sz="1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12FED-E86B-B651-CEF5-2A38579D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8463E-2A8A-4FEE-55BB-90F52DA6B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919C4-8D85-C327-BB21-BD421E24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9D92-7559-0861-9817-E974E0A7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C567C-44D4-882D-8281-E8A6DFEF9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48810-6305-FFC0-197B-D4C0FE105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AE7C6-6A35-62C1-29E5-98AC561D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3E1F3-33AB-E18A-E8EA-473D5993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4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86BB-24C7-57BB-5A75-126172EF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9" y="227965"/>
            <a:ext cx="788670" cy="380365"/>
          </a:xfrm>
        </p:spPr>
        <p:txBody>
          <a:bodyPr anchor="b"/>
          <a:lstStyle>
            <a:lvl1pPr>
              <a:defRPr sz="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D993D-DCF2-E9A8-05C5-2060DC5A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9" y="611929"/>
            <a:ext cx="788670" cy="200025"/>
          </a:xfrm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1pPr>
            <a:lvl2pPr marL="4571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2pPr>
            <a:lvl3pPr marL="9142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3pPr>
            <a:lvl4pPr marL="1371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4pPr>
            <a:lvl5pPr marL="1828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5pPr>
            <a:lvl6pPr marL="22854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6pPr>
            <a:lvl7pPr marL="27425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7pPr>
            <a:lvl8pPr marL="31996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8pPr>
            <a:lvl9pPr marL="3656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0741D-BBAD-D13F-2AA7-382F12FF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F5F23-D8F2-D4C8-2440-817DB961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897DC-7893-82DC-F5B5-0DE823DE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0B68-5F98-2107-464E-5BBB3265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B8CB7-6326-CE09-C5C2-0518C06AD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8A7C5-782D-EA2B-8A9F-1678E0146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5F793-B131-8E9D-7BC4-30D3CCE18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314C0-5355-D3C8-696C-7FB2DDC5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3E252-A77B-08EB-A551-B48BC597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3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A9E0-EECB-0F1E-E0AE-BAD8E4A4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" y="48683"/>
            <a:ext cx="788670" cy="1767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DA53C-7569-357F-5D4D-5A2EAFC4D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" y="224155"/>
            <a:ext cx="386834" cy="109855"/>
          </a:xfrm>
        </p:spPr>
        <p:txBody>
          <a:bodyPr anchor="b"/>
          <a:lstStyle>
            <a:lvl1pPr marL="0" indent="0">
              <a:buNone/>
              <a:defRPr sz="100" b="1"/>
            </a:lvl1pPr>
            <a:lvl2pPr marL="4571" indent="0">
              <a:buNone/>
              <a:defRPr sz="100" b="1"/>
            </a:lvl2pPr>
            <a:lvl3pPr marL="9142" indent="0">
              <a:buNone/>
              <a:defRPr sz="100" b="1"/>
            </a:lvl3pPr>
            <a:lvl4pPr marL="13713" indent="0">
              <a:buNone/>
              <a:defRPr sz="100" b="1"/>
            </a:lvl4pPr>
            <a:lvl5pPr marL="18283" indent="0">
              <a:buNone/>
              <a:defRPr sz="100" b="1"/>
            </a:lvl5pPr>
            <a:lvl6pPr marL="22854" indent="0">
              <a:buNone/>
              <a:defRPr sz="100" b="1"/>
            </a:lvl6pPr>
            <a:lvl7pPr marL="27425" indent="0">
              <a:buNone/>
              <a:defRPr sz="100" b="1"/>
            </a:lvl7pPr>
            <a:lvl8pPr marL="31996" indent="0">
              <a:buNone/>
              <a:defRPr sz="100" b="1"/>
            </a:lvl8pPr>
            <a:lvl9pPr marL="36567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E5753-1163-8E1E-9DE2-3D4DC986C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" y="334010"/>
            <a:ext cx="386834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4B440-D13B-40AB-D22A-803630CEF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6" y="224155"/>
            <a:ext cx="388739" cy="109855"/>
          </a:xfrm>
        </p:spPr>
        <p:txBody>
          <a:bodyPr anchor="b"/>
          <a:lstStyle>
            <a:lvl1pPr marL="0" indent="0">
              <a:buNone/>
              <a:defRPr sz="100" b="1"/>
            </a:lvl1pPr>
            <a:lvl2pPr marL="4571" indent="0">
              <a:buNone/>
              <a:defRPr sz="100" b="1"/>
            </a:lvl2pPr>
            <a:lvl3pPr marL="9142" indent="0">
              <a:buNone/>
              <a:defRPr sz="100" b="1"/>
            </a:lvl3pPr>
            <a:lvl4pPr marL="13713" indent="0">
              <a:buNone/>
              <a:defRPr sz="100" b="1"/>
            </a:lvl4pPr>
            <a:lvl5pPr marL="18283" indent="0">
              <a:buNone/>
              <a:defRPr sz="100" b="1"/>
            </a:lvl5pPr>
            <a:lvl6pPr marL="22854" indent="0">
              <a:buNone/>
              <a:defRPr sz="100" b="1"/>
            </a:lvl6pPr>
            <a:lvl7pPr marL="27425" indent="0">
              <a:buNone/>
              <a:defRPr sz="100" b="1"/>
            </a:lvl7pPr>
            <a:lvl8pPr marL="31996" indent="0">
              <a:buNone/>
              <a:defRPr sz="100" b="1"/>
            </a:lvl8pPr>
            <a:lvl9pPr marL="36567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801491-098E-1BC0-724A-DDEF793CA8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6" y="334010"/>
            <a:ext cx="388739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49C87D-D7A5-FDFB-550F-605A4E03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1DB01-5C21-E45F-FC62-7B217B8C9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A0EF8-A174-884B-81CD-73558A31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30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70C2-982E-F82A-CC37-85878F1E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A7514-6E50-62E1-D71F-49F37E9B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DE9DB-16FE-7B2B-D799-754E31AE4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B583C-AF21-45A7-ABE0-92A64B0E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5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52CE2-5079-91EC-2D3F-792ECA3FC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36D71A-A2B6-16C7-E392-E46B01FD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3C810-8A80-FFA6-CBCD-EADD3BEE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61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2D9A-3A67-0689-DE49-0C89F9B7B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6BBC4-8604-AE19-4648-A846FB6A0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40" y="131657"/>
            <a:ext cx="462915" cy="649817"/>
          </a:xfrm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  <a:lvl6pPr>
              <a:defRPr sz="100"/>
            </a:lvl6pPr>
            <a:lvl7pPr>
              <a:defRPr sz="100"/>
            </a:lvl7pPr>
            <a:lvl8pPr>
              <a:defRPr sz="100"/>
            </a:lvl8pPr>
            <a:lvl9pPr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BB85C-8CF1-1C8C-20B1-401C9A30B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00"/>
            </a:lvl1pPr>
            <a:lvl2pPr marL="4571" indent="0">
              <a:buNone/>
              <a:defRPr sz="100"/>
            </a:lvl2pPr>
            <a:lvl3pPr marL="9142" indent="0">
              <a:buNone/>
              <a:defRPr sz="100"/>
            </a:lvl3pPr>
            <a:lvl4pPr marL="13713" indent="0">
              <a:buNone/>
              <a:defRPr sz="100"/>
            </a:lvl4pPr>
            <a:lvl5pPr marL="18283" indent="0">
              <a:buNone/>
              <a:defRPr sz="100"/>
            </a:lvl5pPr>
            <a:lvl6pPr marL="22854" indent="0">
              <a:buNone/>
              <a:defRPr sz="100"/>
            </a:lvl6pPr>
            <a:lvl7pPr marL="27425" indent="0">
              <a:buNone/>
              <a:defRPr sz="100"/>
            </a:lvl7pPr>
            <a:lvl8pPr marL="31996" indent="0">
              <a:buNone/>
              <a:defRPr sz="100"/>
            </a:lvl8pPr>
            <a:lvl9pPr marL="36567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AB780-83A8-4D31-F905-7BAD50E9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FADED-67FD-0666-0FA5-F0FBCBD8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1EB50-989D-45B9-EBE7-6888E230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0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E2C9-F917-330C-5E4D-75F4A9524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1E2703-12BF-CDAB-3CB4-A8F87FB0C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40" y="131657"/>
            <a:ext cx="462915" cy="649817"/>
          </a:xfrm>
        </p:spPr>
        <p:txBody>
          <a:bodyPr/>
          <a:lstStyle>
            <a:lvl1pPr marL="0" indent="0">
              <a:buNone/>
              <a:defRPr sz="100"/>
            </a:lvl1pPr>
            <a:lvl2pPr marL="4571" indent="0">
              <a:buNone/>
              <a:defRPr sz="100"/>
            </a:lvl2pPr>
            <a:lvl3pPr marL="9142" indent="0">
              <a:buNone/>
              <a:defRPr sz="100"/>
            </a:lvl3pPr>
            <a:lvl4pPr marL="13713" indent="0">
              <a:buNone/>
              <a:defRPr sz="100"/>
            </a:lvl4pPr>
            <a:lvl5pPr marL="18283" indent="0">
              <a:buNone/>
              <a:defRPr sz="100"/>
            </a:lvl5pPr>
            <a:lvl6pPr marL="22854" indent="0">
              <a:buNone/>
              <a:defRPr sz="100"/>
            </a:lvl6pPr>
            <a:lvl7pPr marL="27425" indent="0">
              <a:buNone/>
              <a:defRPr sz="100"/>
            </a:lvl7pPr>
            <a:lvl8pPr marL="31996" indent="0">
              <a:buNone/>
              <a:defRPr sz="100"/>
            </a:lvl8pPr>
            <a:lvl9pPr marL="36567" indent="0">
              <a:buNone/>
              <a:defRPr sz="1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132C7-BF47-080D-4F3C-3EC35D411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00"/>
            </a:lvl1pPr>
            <a:lvl2pPr marL="4571" indent="0">
              <a:buNone/>
              <a:defRPr sz="100"/>
            </a:lvl2pPr>
            <a:lvl3pPr marL="9142" indent="0">
              <a:buNone/>
              <a:defRPr sz="100"/>
            </a:lvl3pPr>
            <a:lvl4pPr marL="13713" indent="0">
              <a:buNone/>
              <a:defRPr sz="100"/>
            </a:lvl4pPr>
            <a:lvl5pPr marL="18283" indent="0">
              <a:buNone/>
              <a:defRPr sz="100"/>
            </a:lvl5pPr>
            <a:lvl6pPr marL="22854" indent="0">
              <a:buNone/>
              <a:defRPr sz="100"/>
            </a:lvl6pPr>
            <a:lvl7pPr marL="27425" indent="0">
              <a:buNone/>
              <a:defRPr sz="100"/>
            </a:lvl7pPr>
            <a:lvl8pPr marL="31996" indent="0">
              <a:buNone/>
              <a:defRPr sz="100"/>
            </a:lvl8pPr>
            <a:lvl9pPr marL="36567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98600-8B10-E364-1820-5E2FDA50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E3162-2CB4-3213-566B-D1A16679B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43A24-B126-16DC-F8D1-0B7A2DCD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8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A622-6032-00D0-5693-3763EAD7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B895B-BE0E-7B4D-A0B5-A8D4D2053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7280F-191C-69C6-6725-DFFE9542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0F8F4-3CF8-4A61-C645-26841A7C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F3CBE-6C1A-A8CD-DF56-930F17B1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10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AE9D9-8EB2-13A2-FA0A-5A8436A3C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" y="48683"/>
            <a:ext cx="197168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E0012-DD58-C531-8839-5825895F2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6" y="48683"/>
            <a:ext cx="580073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064FD-F918-97E5-6079-565B5F86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39450-E87D-E39D-CD70-8112F6AB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1E740-4BDC-B12E-8322-37EF38A08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30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78DF-4471-5DEB-5AF5-823752F7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B8DFC-BD03-B172-0A30-99DD829AE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1073-FB33-287F-3056-31D484D5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2A2A7-EB40-5A95-8DAE-AF4E90CCE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D1EFB-39FF-1DC9-6C9E-E41FC92F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41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08B8C-801A-B4DA-7D81-7DBACC93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" y="48683"/>
            <a:ext cx="78867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1F7BF-C0D8-61C8-1943-966DEF451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" y="243417"/>
            <a:ext cx="78867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AEC6E-E9D0-B4EA-42FB-881FEC1DC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5E3DC-E37F-4B4D-991A-1190A7C7BBE5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A47D8-8CD0-2FEB-8A42-C72D086ED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" y="847514"/>
            <a:ext cx="30861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C019C-2751-16F6-A518-FA8005792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EF42D-5A65-4029-9F78-408BF3F9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4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2" rtl="0" eaLnBrk="1" latinLnBrk="0" hangingPunct="1">
        <a:lnSpc>
          <a:spcPct val="90000"/>
        </a:lnSpc>
        <a:spcBef>
          <a:spcPct val="0"/>
        </a:spcBef>
        <a:buNone/>
        <a:defRPr sz="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" indent="-2285" algn="l" defTabSz="9142" rtl="0" eaLnBrk="1" latinLnBrk="0" hangingPunct="1">
        <a:lnSpc>
          <a:spcPct val="90000"/>
        </a:lnSpc>
        <a:spcBef>
          <a:spcPts val="10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8851-C0DD-DF70-FF8D-4A1B9954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Blue Team: Auditing Stored Procedures &amp; Database Objects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6B186-E24E-0619-B092-A615A9AA6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CY376 — Network Monitoring, Security and Auditing</a:t>
            </a:r>
          </a:p>
          <a:p>
            <a:r>
              <a:rPr lang="en-US"/>
              <a:t>Veronica Okyere</a:t>
            </a:r>
          </a:p>
          <a:p>
            <a:r>
              <a:rPr lang="en-US"/>
              <a:t>Index: FCM.41.018.206.23</a:t>
            </a:r>
          </a:p>
          <a:p>
            <a:r>
              <a:rPr lang="en-US"/>
              <a:t>GitHub: cy-vokyere3623-hash/blue-team-stored-procedure-audit</a:t>
            </a:r>
          </a:p>
        </p:txBody>
      </p:sp>
    </p:spTree>
    <p:extLst>
      <p:ext uri="{BB962C8B-B14F-4D97-AF65-F5344CB8AC3E}">
        <p14:creationId xmlns:p14="http://schemas.microsoft.com/office/powerpoint/2010/main" val="23189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7EBF-09F9-D09D-C84D-81BC3933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2E296-8DDF-3B34-039F-255EB9D38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SQL Server 2022 Express — localhost\SQLEXPRESS</a:t>
            </a:r>
          </a:p>
          <a:p>
            <a:r>
              <a:rPr lang="en-US"/>
              <a:t>SSMS 21 + AdventureWorks2022</a:t>
            </a:r>
          </a:p>
          <a:p>
            <a:r>
              <a:rPr lang="en-US"/>
              <a:t>Isolated lab only — no production targets</a:t>
            </a:r>
          </a:p>
          <a:p>
            <a:r>
              <a:rPr lang="en-US"/>
              <a:t>Intentionally vulnerable procedures for blue-team practice</a:t>
            </a:r>
          </a:p>
        </p:txBody>
      </p:sp>
    </p:spTree>
    <p:extLst>
      <p:ext uri="{BB962C8B-B14F-4D97-AF65-F5344CB8AC3E}">
        <p14:creationId xmlns:p14="http://schemas.microsoft.com/office/powerpoint/2010/main" val="3123040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8E0E5-3EEA-82DF-BD74-7C2FA544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97AEE-C999-8B47-C5F5-21D42179C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Inventory database modules</a:t>
            </a:r>
          </a:p>
          <a:p>
            <a:r>
              <a:rPr lang="en-US"/>
              <a:t>2. Hunt dangerous code patterns (OWASP / STIG)</a:t>
            </a:r>
          </a:p>
          <a:p>
            <a:r>
              <a:rPr lang="en-US"/>
              <a:t>3. Review permissions (public / EXECUTE)</a:t>
            </a:r>
          </a:p>
          <a:p>
            <a:r>
              <a:rPr lang="en-US"/>
              <a:t>4. Check CIS surface-area configuration</a:t>
            </a:r>
          </a:p>
          <a:p>
            <a:r>
              <a:rPr lang="en-US"/>
              <a:t>5. Verify SQL Server Audit controls</a:t>
            </a:r>
          </a:p>
          <a:p>
            <a:r>
              <a:rPr lang="en-US"/>
              <a:t>6. Remediate and re-verify</a:t>
            </a:r>
          </a:p>
        </p:txBody>
      </p:sp>
    </p:spTree>
    <p:extLst>
      <p:ext uri="{BB962C8B-B14F-4D97-AF65-F5344CB8AC3E}">
        <p14:creationId xmlns:p14="http://schemas.microsoft.com/office/powerpoint/2010/main" val="1650157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956A-0029-93CA-CD61-82606319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A356B-E021-8E3E-F83C-06A98012A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F-001: SQL injection via dynamic SQL concatenation</a:t>
            </a:r>
          </a:p>
          <a:p>
            <a:r>
              <a:rPr lang="en-US"/>
              <a:t>F-003: xp_cmdshell wrapper procedure</a:t>
            </a:r>
          </a:p>
          <a:p>
            <a:r>
              <a:rPr lang="en-US"/>
              <a:t>Evidence: before screenshots in evidence/screenshots</a:t>
            </a:r>
          </a:p>
          <a:p>
            <a:r>
              <a:rPr lang="en-US"/>
              <a:t>Standards: OWASP SQLi + CIS SQL Server</a:t>
            </a:r>
          </a:p>
        </p:txBody>
      </p:sp>
    </p:spTree>
    <p:extLst>
      <p:ext uri="{BB962C8B-B14F-4D97-AF65-F5344CB8AC3E}">
        <p14:creationId xmlns:p14="http://schemas.microsoft.com/office/powerpoint/2010/main" val="194076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DD82-9265-53E1-995B-633A39E6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/ Medium / Low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1F14C-173F-C7B1-8074-F731F342B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F-002 High: EXECUTE AS OWNER privilege escalation</a:t>
            </a:r>
          </a:p>
          <a:p>
            <a:r>
              <a:rPr lang="en-US"/>
              <a:t>F-004 High: EXECUTE granted to public</a:t>
            </a:r>
          </a:p>
          <a:p>
            <a:r>
              <a:rPr lang="en-US"/>
              <a:t>F-005 Medium: SQL Server Audit missing</a:t>
            </a:r>
          </a:p>
          <a:p>
            <a:r>
              <a:rPr lang="en-US"/>
              <a:t>F-006 Low: remote access enabled</a:t>
            </a:r>
          </a:p>
        </p:txBody>
      </p:sp>
    </p:spTree>
    <p:extLst>
      <p:ext uri="{BB962C8B-B14F-4D97-AF65-F5344CB8AC3E}">
        <p14:creationId xmlns:p14="http://schemas.microsoft.com/office/powerpoint/2010/main" val="272580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59ED-74BB-3F99-F14F-F4D2D6CE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Remediation &amp; Verification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F6FB3-33A9-F12C-640E-FEE7C4820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Dropped unsafe procedures; created safe replacements</a:t>
            </a:r>
          </a:p>
          <a:p>
            <a:r>
              <a:rPr lang="en-US"/>
              <a:t>Revoked public EXECUTE on lab procedures</a:t>
            </a:r>
          </a:p>
          <a:p>
            <a:r>
              <a:rPr lang="en-US"/>
              <a:t>Started BlueTeamLabAudit + audit specs</a:t>
            </a:r>
          </a:p>
          <a:p>
            <a:r>
              <a:rPr lang="en-US"/>
              <a:t>Disabled remote access</a:t>
            </a:r>
          </a:p>
          <a:p>
            <a:r>
              <a:rPr lang="en-US"/>
              <a:t>Re-ran scripts 02–05: risky patterns = 0 rows</a:t>
            </a:r>
          </a:p>
        </p:txBody>
      </p:sp>
    </p:spTree>
    <p:extLst>
      <p:ext uri="{BB962C8B-B14F-4D97-AF65-F5344CB8AC3E}">
        <p14:creationId xmlns:p14="http://schemas.microsoft.com/office/powerpoint/2010/main" val="29191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F407-BF3A-804E-9CCE-652588B2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30A60-24D6-A8D9-9C84-E2FB7D758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parameterized SQL / avoid string-concat EXEC</a:t>
            </a:r>
          </a:p>
          <a:p>
            <a:r>
              <a:rPr lang="en-US"/>
              <a:t>Avoid EXECUTE AS OWNER unless justified</a:t>
            </a:r>
          </a:p>
          <a:p>
            <a:r>
              <a:rPr lang="en-US"/>
              <a:t>Never grant sensitive EXECUTE to public</a:t>
            </a:r>
          </a:p>
          <a:p>
            <a:r>
              <a:rPr lang="en-US"/>
              <a:t>Keep xp_cmdshell and high-risk features disabled</a:t>
            </a:r>
          </a:p>
          <a:p>
            <a:r>
              <a:rPr lang="en-US"/>
              <a:t>Enable SQL Server Audit and review regularly</a:t>
            </a:r>
          </a:p>
        </p:txBody>
      </p:sp>
    </p:spTree>
    <p:extLst>
      <p:ext uri="{BB962C8B-B14F-4D97-AF65-F5344CB8AC3E}">
        <p14:creationId xmlns:p14="http://schemas.microsoft.com/office/powerpoint/2010/main" val="358536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605D7-6298-BE29-3538-391A14757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E5159-A466-674D-9E75-4AD86A0EF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 findings identified, remediated, and verified</a:t>
            </a:r>
          </a:p>
          <a:p>
            <a:r>
              <a:rPr lang="en-US"/>
              <a:t>Full report, scripts, and evidence in GitHub</a:t>
            </a:r>
          </a:p>
          <a:p>
            <a:r>
              <a:rPr lang="en-US"/>
              <a:t>Thank you — questions welcome</a:t>
            </a:r>
          </a:p>
          <a:p>
            <a:r>
              <a:rPr lang="en-US"/>
              <a:t>Repo: github.com/cy-vokyere3623-hash/blue-team-stored-procedure-audit</a:t>
            </a:r>
          </a:p>
        </p:txBody>
      </p:sp>
    </p:spTree>
    <p:extLst>
      <p:ext uri="{BB962C8B-B14F-4D97-AF65-F5344CB8AC3E}">
        <p14:creationId xmlns:p14="http://schemas.microsoft.com/office/powerpoint/2010/main" val="3610002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Custom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Blue Team: Auditing Stored Procedures &amp; Database Objects</vt:lpstr>
      <vt:lpstr>Lab Setup</vt:lpstr>
      <vt:lpstr>Methodology</vt:lpstr>
      <vt:lpstr>Critical Findings</vt:lpstr>
      <vt:lpstr>High / Medium / Low Findings</vt:lpstr>
      <vt:lpstr>Remediation &amp; Verification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No_Va @</dc:creator>
  <cp:lastModifiedBy>No_Va @</cp:lastModifiedBy>
  <cp:revision>1</cp:revision>
  <dcterms:created xsi:type="dcterms:W3CDTF">2026-08-02T20:49:37Z</dcterms:created>
  <dcterms:modified xsi:type="dcterms:W3CDTF">2026-08-02T20:49:37Z</dcterms:modified>
</cp:coreProperties>
</file>